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3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4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6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7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8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3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7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2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7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5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099DB-6F01-99DF-19D2-BFDD7A78F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5014" y="2336611"/>
            <a:ext cx="7194698" cy="152704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SHOPPING BEHAVIOUR    	ANALYSIS USING POWER BI</a:t>
            </a: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7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bstract blurred background of department store">
            <a:extLst>
              <a:ext uri="{FF2B5EF4-FFF2-40B4-BE49-F238E27FC236}">
                <a16:creationId xmlns:a16="http://schemas.microsoft.com/office/drawing/2014/main" id="{A26863B3-A937-5950-D08D-4FE79A42E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7" r="32059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B9298CF-59A8-FD77-FF4D-57420C943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6170" y="3863658"/>
            <a:ext cx="5916169" cy="409507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Tool: Microsoft Power BI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NEHA 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62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0076-F7E4-90EB-A1C0-48AB6B48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8D828-EC2E-1F9B-008C-AC5C4F7AF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486932"/>
            <a:ext cx="10653579" cy="4593828"/>
          </a:xfrm>
        </p:spPr>
        <p:txBody>
          <a:bodyPr>
            <a:no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shopping behaviour generate large amounts of data related to products, customers, purchases, payments, and deliveries.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data and identify meaningful business patterns.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evaluates product categories, brand performance, and purchasing quantities to understand product performance.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purchasing behaviour is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subscription status, purchasing frequency, and customer demographics.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methods, delivery performance, product returns, and customer review ratings are examined to identify operational patterns.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interactive dashboard transforms raw data into visual insights that support data-driven decision-making and improved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19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DCC2-BC15-A8BB-03FD-235D86B6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2D54C-A2C7-D96D-E3B7-279D6A047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75" y="1310287"/>
            <a:ext cx="10653579" cy="459382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categories generate the highest purchase amounts?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brands contribute the most to the total purchase amount?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have the highest purchase quantities?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purchase amount vary across promotional occasions?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sizes and colours have the highest purchasing quantities?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purchasing patterns vary across customer demographics?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distribution of subscribed and non-subscribed customers?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payment methods are most commonly used by customers?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average delivery time compare between Express and Standard delivery?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transactions involve returned products, and how do customer review ratings vary?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2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6EC7-F0FB-C551-7F12-1D9F470A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84" y="101831"/>
            <a:ext cx="10653578" cy="1132258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solidFill>
                  <a:srgbClr val="5B0F00"/>
                </a:solidFill>
                <a:latin typeface="Georgia"/>
                <a:ea typeface="Georgia"/>
                <a:cs typeface="Georgia"/>
                <a:sym typeface="Georgia"/>
              </a:rPr>
              <a:t>DATA OVERVIEW</a:t>
            </a:r>
            <a:br>
              <a:rPr lang="en-IN" sz="3000" dirty="0">
                <a:solidFill>
                  <a:srgbClr val="5B0F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lang="en-IN" sz="3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8F5C11-60D1-66A6-C9DD-CFE04BBD1F2A}"/>
              </a:ext>
            </a:extLst>
          </p:cNvPr>
          <p:cNvSpPr/>
          <p:nvPr/>
        </p:nvSpPr>
        <p:spPr>
          <a:xfrm>
            <a:off x="187036" y="957178"/>
            <a:ext cx="3761509" cy="490450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1127A8-3348-6C72-70BE-54D4BD31A094}"/>
              </a:ext>
            </a:extLst>
          </p:cNvPr>
          <p:cNvSpPr/>
          <p:nvPr/>
        </p:nvSpPr>
        <p:spPr>
          <a:xfrm>
            <a:off x="4303568" y="957177"/>
            <a:ext cx="3584864" cy="490451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DA50A9-7DF5-2B3A-F813-0DDEDC5DC20E}"/>
              </a:ext>
            </a:extLst>
          </p:cNvPr>
          <p:cNvSpPr/>
          <p:nvPr/>
        </p:nvSpPr>
        <p:spPr>
          <a:xfrm>
            <a:off x="8208818" y="918987"/>
            <a:ext cx="3605646" cy="49427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ADD56C-ABFC-F090-300B-50A8F8006535}"/>
              </a:ext>
            </a:extLst>
          </p:cNvPr>
          <p:cNvSpPr/>
          <p:nvPr/>
        </p:nvSpPr>
        <p:spPr>
          <a:xfrm>
            <a:off x="935182" y="1122219"/>
            <a:ext cx="2327563" cy="384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F1099B-5276-3C93-A14C-27F0E9A73337}"/>
              </a:ext>
            </a:extLst>
          </p:cNvPr>
          <p:cNvSpPr/>
          <p:nvPr/>
        </p:nvSpPr>
        <p:spPr>
          <a:xfrm>
            <a:off x="5008418" y="1122218"/>
            <a:ext cx="2246584" cy="3844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FIELD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52A355-1767-8518-DED5-722C43833D77}"/>
              </a:ext>
            </a:extLst>
          </p:cNvPr>
          <p:cNvSpPr/>
          <p:nvPr/>
        </p:nvSpPr>
        <p:spPr>
          <a:xfrm>
            <a:off x="8427028" y="1122217"/>
            <a:ext cx="2953498" cy="54032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ANA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LYTICAL OUTPUTS</a:t>
            </a:r>
            <a:endParaRPr lang="en-IN" sz="105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580510-53A6-4782-7790-C59B412BA793}"/>
              </a:ext>
            </a:extLst>
          </p:cNvPr>
          <p:cNvSpPr txBox="1"/>
          <p:nvPr/>
        </p:nvSpPr>
        <p:spPr>
          <a:xfrm>
            <a:off x="726947" y="2140528"/>
            <a:ext cx="29722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  : Customer Shopping Behaviour Dataset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Tool: Microsoft Power BI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 Power Query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Visualization: DAX and Power BI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A8150D-E1BD-CB15-4121-24D346ACA26A}"/>
              </a:ext>
            </a:extLst>
          </p:cNvPr>
          <p:cNvSpPr txBox="1"/>
          <p:nvPr/>
        </p:nvSpPr>
        <p:spPr>
          <a:xfrm>
            <a:off x="4677641" y="1527462"/>
            <a:ext cx="28367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and Gender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and Item Purchased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Amount and Quantity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 / Promotional Occasion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Status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Speed and Delivery Time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Rating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2AD0AE-7C2F-82A6-17C5-AE3DA880F73A}"/>
              </a:ext>
            </a:extLst>
          </p:cNvPr>
          <p:cNvSpPr txBox="1"/>
          <p:nvPr/>
        </p:nvSpPr>
        <p:spPr>
          <a:xfrm>
            <a:off x="8427028" y="1922318"/>
            <a:ext cx="32735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Brand Performance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Purchase Details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Festive Sales &amp; Category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 Behaviour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&amp; Payment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8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925F-CAF3-FBE4-A1B3-581F791C9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422" y="631768"/>
            <a:ext cx="10653578" cy="113225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Georgia"/>
                <a:ea typeface="Georgia"/>
                <a:cs typeface="Georgia"/>
                <a:sym typeface="Georgia"/>
              </a:rPr>
              <a:t>CHANGELOG - DATA CLEANING &amp; TRANSFORMATION</a:t>
            </a:r>
            <a:br>
              <a:rPr lang="en-IN" sz="2000" dirty="0">
                <a:latin typeface="Georgia"/>
                <a:ea typeface="Georgia"/>
                <a:cs typeface="Georgia"/>
                <a:sym typeface="Georgia"/>
              </a:rPr>
            </a:br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80DC87-D0B6-49B9-EE52-2A1A2FED8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58209"/>
              </p:ext>
            </p:extLst>
          </p:nvPr>
        </p:nvGraphicFramePr>
        <p:xfrm>
          <a:off x="693650" y="1562115"/>
          <a:ext cx="10491963" cy="3733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7321">
                  <a:extLst>
                    <a:ext uri="{9D8B030D-6E8A-4147-A177-3AD203B41FA5}">
                      <a16:colId xmlns:a16="http://schemas.microsoft.com/office/drawing/2014/main" val="2719507634"/>
                    </a:ext>
                  </a:extLst>
                </a:gridCol>
                <a:gridCol w="3497321">
                  <a:extLst>
                    <a:ext uri="{9D8B030D-6E8A-4147-A177-3AD203B41FA5}">
                      <a16:colId xmlns:a16="http://schemas.microsoft.com/office/drawing/2014/main" val="2269961260"/>
                    </a:ext>
                  </a:extLst>
                </a:gridCol>
                <a:gridCol w="3497321">
                  <a:extLst>
                    <a:ext uri="{9D8B030D-6E8A-4147-A177-3AD203B41FA5}">
                      <a16:colId xmlns:a16="http://schemas.microsoft.com/office/drawing/2014/main" val="1682125646"/>
                    </a:ext>
                  </a:extLst>
                </a:gridCol>
              </a:tblGrid>
              <a:tr h="63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MADE </a:t>
                      </a: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90052" marR="90052" marT="45026" marB="45026" anchor="ctr"/>
                </a:tc>
                <a:extLst>
                  <a:ext uri="{0D108BD9-81ED-4DB2-BD59-A6C34878D82A}">
                    <a16:rowId xmlns:a16="http://schemas.microsoft.com/office/drawing/2014/main" val="3645780650"/>
                  </a:ext>
                </a:extLst>
              </a:tr>
              <a:tr h="63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Check</a:t>
                      </a: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 for duplicate records; no duplicates were found.</a:t>
                      </a:r>
                    </a:p>
                  </a:txBody>
                  <a:tcPr marL="90052" marR="90052" marT="45026" marB="45026" anchor="ctr"/>
                </a:tc>
                <a:extLst>
                  <a:ext uri="{0D108BD9-81ED-4DB2-BD59-A6C34878D82A}">
                    <a16:rowId xmlns:a16="http://schemas.microsoft.com/office/drawing/2014/main" val="578556259"/>
                  </a:ext>
                </a:extLst>
              </a:tr>
              <a:tr h="63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 Check</a:t>
                      </a: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 for null and blank values ,none were found.</a:t>
                      </a:r>
                    </a:p>
                  </a:txBody>
                  <a:tcPr marL="90052" marR="90052" marT="45026" marB="45026" anchor="ctr"/>
                </a:tc>
                <a:extLst>
                  <a:ext uri="{0D108BD9-81ED-4DB2-BD59-A6C34878D82A}">
                    <a16:rowId xmlns:a16="http://schemas.microsoft.com/office/drawing/2014/main" val="3699263726"/>
                  </a:ext>
                </a:extLst>
              </a:tr>
              <a:tr h="900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Consistency Check</a:t>
                      </a: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product categories for consistent formatting; no changes were required.</a:t>
                      </a:r>
                    </a:p>
                  </a:txBody>
                  <a:tcPr marL="90052" marR="90052" marT="45026" marB="45026" anchor="ctr"/>
                </a:tc>
                <a:extLst>
                  <a:ext uri="{0D108BD9-81ED-4DB2-BD59-A6C34878D82A}">
                    <a16:rowId xmlns:a16="http://schemas.microsoft.com/office/drawing/2014/main" val="3362282685"/>
                  </a:ext>
                </a:extLst>
              </a:tr>
              <a:tr h="900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DAX Measure Creation</a:t>
                      </a:r>
                    </a:p>
                  </a:txBody>
                  <a:tcPr marL="90052" marR="90052" marT="45026" marB="450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measures to calculate KPIs and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customer shopping behaviour.</a:t>
                      </a:r>
                    </a:p>
                  </a:txBody>
                  <a:tcPr marL="90052" marR="90052" marT="45026" marB="45026" anchor="ctr"/>
                </a:tc>
                <a:extLst>
                  <a:ext uri="{0D108BD9-81ED-4DB2-BD59-A6C34878D82A}">
                    <a16:rowId xmlns:a16="http://schemas.microsoft.com/office/drawing/2014/main" val="521533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87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FE8B-EA2D-9D7C-116E-C6BCDCC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91440"/>
            <a:ext cx="10653578" cy="67748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67DEB3-613A-A76B-6EAF-8B3FC3665E2E}"/>
              </a:ext>
            </a:extLst>
          </p:cNvPr>
          <p:cNvSpPr/>
          <p:nvPr/>
        </p:nvSpPr>
        <p:spPr>
          <a:xfrm>
            <a:off x="187036" y="945573"/>
            <a:ext cx="4540827" cy="47070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APPROACH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Shopping Behaviour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Power Query to prepare the dataset for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Checked data types, duplicate records, and missing values.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Established relationships between tables if additional tables were used.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DAX measures to calculate key performance indicators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E73F84-13DC-17CD-28B2-F432B58E9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906418"/>
              </p:ext>
            </p:extLst>
          </p:nvPr>
        </p:nvGraphicFramePr>
        <p:xfrm>
          <a:off x="5216674" y="1423554"/>
          <a:ext cx="637237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6185">
                  <a:extLst>
                    <a:ext uri="{9D8B030D-6E8A-4147-A177-3AD203B41FA5}">
                      <a16:colId xmlns:a16="http://schemas.microsoft.com/office/drawing/2014/main" val="266870780"/>
                    </a:ext>
                  </a:extLst>
                </a:gridCol>
                <a:gridCol w="3186185">
                  <a:extLst>
                    <a:ext uri="{9D8B030D-6E8A-4147-A177-3AD203B41FA5}">
                      <a16:colId xmlns:a16="http://schemas.microsoft.com/office/drawing/2014/main" val="2042986884"/>
                    </a:ext>
                  </a:extLst>
                </a:gridCol>
              </a:tblGrid>
              <a:tr h="36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DAX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235933"/>
                  </a:ext>
                </a:extLst>
              </a:tr>
              <a:tr h="36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Purchase Amount and Total Quantity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830055"/>
                  </a:ext>
                </a:extLst>
              </a:tr>
              <a:tr h="36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Delivery Time and Review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150579"/>
                  </a:ext>
                </a:extLst>
              </a:tr>
              <a:tr h="36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Unique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8190957"/>
                  </a:ext>
                </a:extLst>
              </a:tr>
              <a:tr h="36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Transaction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253368"/>
                  </a:ext>
                </a:extLst>
              </a:tr>
              <a:tr h="36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calculations and filtered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242526"/>
                  </a:ext>
                </a:extLst>
              </a:tr>
              <a:tr h="637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Ranking products and brands by purchase 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138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70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35AD-19A6-69C1-11A6-1F7E2B13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647" y="290258"/>
            <a:ext cx="10653578" cy="665706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BRAND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34F18-46C6-D770-48C5-761F1966CFA1}"/>
              </a:ext>
            </a:extLst>
          </p:cNvPr>
          <p:cNvSpPr txBox="1"/>
          <p:nvPr/>
        </p:nvSpPr>
        <p:spPr>
          <a:xfrm>
            <a:off x="5621482" y="855415"/>
            <a:ext cx="6920346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Footwear records the highest purchase amount among categories, while Nike leads among the brands shown.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Kurtas, Running Shoes, and Sneakers are among the products highlighted in the quantity analysis.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customer purchasing preferences across product categories and brands.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product demand and purchasing quantities.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high-performing categories and brands when planning inventory.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product-level demand to improve stock allocation.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73937-D034-B726-A55F-83C859683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4" t="44955" r="41332" b="31533"/>
          <a:stretch>
            <a:fillRect/>
          </a:stretch>
        </p:blipFill>
        <p:spPr>
          <a:xfrm>
            <a:off x="244378" y="955964"/>
            <a:ext cx="5154964" cy="2307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2F9FCA-2F1D-B03E-2991-9D0B6CC76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" t="45566" r="69063" b="31711"/>
          <a:stretch>
            <a:fillRect/>
          </a:stretch>
        </p:blipFill>
        <p:spPr>
          <a:xfrm>
            <a:off x="212311" y="3594772"/>
            <a:ext cx="5219099" cy="233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5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64F9-2BF8-18B2-B6B6-C71EDB8A1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75" y="195349"/>
            <a:ext cx="10653578" cy="511233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PURCHASE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0ADC7-71D0-10F7-5970-BF7F231DCB15}"/>
              </a:ext>
            </a:extLst>
          </p:cNvPr>
          <p:cNvSpPr txBox="1"/>
          <p:nvPr/>
        </p:nvSpPr>
        <p:spPr>
          <a:xfrm>
            <a:off x="6255327" y="803098"/>
            <a:ext cx="5569527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Size records the highest purchase quantity among the sizes shown.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Day records the highest purchase amount among the promotional occasions shown.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customer preferences for product sizes.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activity varies across promotional occasions.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size-level purchasing patterns to guide product assortment and stock allocation.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promotional performance when planning future campaigns.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80C88-FF29-CF9A-4EDE-66FFB2FBA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2" t="34075" r="39148" b="37968"/>
          <a:stretch>
            <a:fillRect/>
          </a:stretch>
        </p:blipFill>
        <p:spPr>
          <a:xfrm>
            <a:off x="924790" y="706582"/>
            <a:ext cx="4780394" cy="2722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B8084-6FC9-460A-7E62-741CF4D7D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" t="35218" r="66080" b="38609"/>
          <a:stretch>
            <a:fillRect/>
          </a:stretch>
        </p:blipFill>
        <p:spPr>
          <a:xfrm>
            <a:off x="924790" y="3688774"/>
            <a:ext cx="4780394" cy="257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4F77-8C15-F803-47DC-D78E9F1F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56232"/>
            <a:ext cx="10653578" cy="35536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FESTIVE SALES &amp; CATEGORY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AE0FC-4C4D-6F3A-78AB-B6B0BF26D785}"/>
              </a:ext>
            </a:extLst>
          </p:cNvPr>
          <p:cNvSpPr txBox="1"/>
          <p:nvPr/>
        </p:nvSpPr>
        <p:spPr>
          <a:xfrm>
            <a:off x="5724407" y="1205347"/>
            <a:ext cx="6038101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purchase amounts across promotional occasions to identify the strongest-performing occasions.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category-level purchasing patterns and review ratings to evaluate product performance. 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purchasing activity across promotional occasions and product categories.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customer feedback across products or categories. 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promotional occasions using purchase amount and quantity.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products or categories with lower review ratings.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9215F5-0531-D752-0C79-20F1D9E9A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6" t="28960" r="57898" b="50001"/>
          <a:stretch>
            <a:fillRect/>
          </a:stretch>
        </p:blipFill>
        <p:spPr>
          <a:xfrm>
            <a:off x="352307" y="1297172"/>
            <a:ext cx="5372100" cy="1809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FB4E7D-EA1D-79A5-BCA5-C0997BF7B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2" t="51654" r="38807" b="29545"/>
          <a:stretch>
            <a:fillRect/>
          </a:stretch>
        </p:blipFill>
        <p:spPr>
          <a:xfrm>
            <a:off x="352307" y="3544025"/>
            <a:ext cx="5229286" cy="192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1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853A-1AE2-4646-A669-B5400D23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16131"/>
            <a:ext cx="10653578" cy="49045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 BEHAVIOUR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F4ABF-4528-95B0-E616-6E8B037119C2}"/>
              </a:ext>
            </a:extLst>
          </p:cNvPr>
          <p:cNvSpPr txBox="1"/>
          <p:nvPr/>
        </p:nvSpPr>
        <p:spPr>
          <a:xfrm>
            <a:off x="6244936" y="883228"/>
            <a:ext cx="5611091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971 out of 3,000 customers are subscribed, representing about 32.4%.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customers form the largest purchasing-frequency group in the dashboard.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participation differs between customers.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frequency varies across customer groups.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targeted campaigns to encourage subscriptions and repeat purchases.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customer engagement strategies for low-frequency customers.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0EFB9-48E0-48F3-FD79-BA560D64F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3" t="64895" r="39065" b="17745"/>
          <a:stretch>
            <a:fillRect/>
          </a:stretch>
        </p:blipFill>
        <p:spPr>
          <a:xfrm>
            <a:off x="722950" y="1168725"/>
            <a:ext cx="5177854" cy="2121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471184-C154-B434-8D93-A85A531A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2" t="44919" r="38722" b="36203"/>
          <a:stretch>
            <a:fillRect/>
          </a:stretch>
        </p:blipFill>
        <p:spPr>
          <a:xfrm>
            <a:off x="676690" y="3673439"/>
            <a:ext cx="5270375" cy="201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8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A505-8DE8-ACA2-1656-E47720CF2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143394"/>
            <a:ext cx="10653578" cy="480060"/>
          </a:xfrm>
        </p:spPr>
        <p:txBody>
          <a:bodyPr>
            <a:no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&amp; PAYMENT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C807D-4B56-9604-06C5-3E921F034FE3}"/>
              </a:ext>
            </a:extLst>
          </p:cNvPr>
          <p:cNvSpPr txBox="1"/>
          <p:nvPr/>
        </p:nvSpPr>
        <p:spPr>
          <a:xfrm>
            <a:off x="6096000" y="900600"/>
            <a:ext cx="5621482" cy="595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is the most commonly used payment method in the dashboard.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delivery has a longer average delivery time than Express delivery; the dashboard also shows approximately 2,000 returned transactions. 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differ in their payment method preferences.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time varies by delivery speed, while returned transactions require further investigation. 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a smooth checkout experience for commonly used payment methods.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longer Standard delivery times and examine return patterns to identify potential improvements.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AA2ED-6C80-F528-8C23-C455B3DF2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3" t="34118" r="56534" b="39893"/>
          <a:stretch>
            <a:fillRect/>
          </a:stretch>
        </p:blipFill>
        <p:spPr>
          <a:xfrm>
            <a:off x="623454" y="1174173"/>
            <a:ext cx="5268191" cy="1879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7E048-B334-329B-B998-2E6BCF5A7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62834" r="56790" b="13262"/>
          <a:stretch>
            <a:fillRect/>
          </a:stretch>
        </p:blipFill>
        <p:spPr>
          <a:xfrm>
            <a:off x="623454" y="3720861"/>
            <a:ext cx="5268191" cy="196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36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7631-4A70-E112-B5A8-416F2BC2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56318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8A7F-555B-4050-5143-AB029610B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329" y="1331068"/>
            <a:ext cx="10653579" cy="459382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high-performing products and brands.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inventory using customer product preferences.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customer retention through targeted marketing.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efficiency and payment convenience.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product returns and customer feedback.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67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C665-F5EC-F85B-26B4-7B70C1CFB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12" y="977097"/>
            <a:ext cx="10653578" cy="113225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NEXT STEPS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58A7C-1443-68F0-6B7D-41975161B5DF}"/>
              </a:ext>
            </a:extLst>
          </p:cNvPr>
          <p:cNvSpPr txBox="1"/>
          <p:nvPr/>
        </p:nvSpPr>
        <p:spPr>
          <a:xfrm>
            <a:off x="768927" y="2109355"/>
            <a:ext cx="4665519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depends on the available dataset.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cannot be fully assessed without cost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trends may be unavailable.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reasons may not be recorded.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patterns do not establish causation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60E08-5268-D685-69C2-9A548A4E5B4F}"/>
              </a:ext>
            </a:extLst>
          </p:cNvPr>
          <p:cNvSpPr txBox="1"/>
          <p:nvPr/>
        </p:nvSpPr>
        <p:spPr>
          <a:xfrm>
            <a:off x="5621482" y="2109355"/>
            <a:ext cx="5101936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time-based sales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 cost and profit information.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advanced customer segmentation.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product returns and delivery delays.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predictive analytics for demand forecasting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774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76FF-CF4D-6FE4-7256-047C8F6B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21" y="2637213"/>
            <a:ext cx="10653578" cy="1132258"/>
          </a:xfrm>
          <a:solidFill>
            <a:schemeClr val="bg2"/>
          </a:solidFill>
        </p:spPr>
        <p:txBody>
          <a:bodyPr>
            <a:normAutofit/>
          </a:bodyPr>
          <a:lstStyle/>
          <a:p>
            <a:pPr algn="ctr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97911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966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Georgia</vt:lpstr>
      <vt:lpstr>Neue Haas Grotesk Text Pro</vt:lpstr>
      <vt:lpstr>Times New Roman</vt:lpstr>
      <vt:lpstr>VanillaVTI</vt:lpstr>
      <vt:lpstr>CUSTOMER SHOPPING BEHAVIOUR     ANALYSIS USING POWER BI    </vt:lpstr>
      <vt:lpstr>INTRODUCTION</vt:lpstr>
      <vt:lpstr>BUSINESS QUESTIONS</vt:lpstr>
      <vt:lpstr>DATA OVERVIEW </vt:lpstr>
      <vt:lpstr>CHANGELOG - DATA CLEANING &amp; TRANSFORMATION </vt:lpstr>
      <vt:lpstr>METHODOLOGY</vt:lpstr>
      <vt:lpstr>PRODUCT &amp; BRAND ANALYSIS</vt:lpstr>
      <vt:lpstr>PRODUCT PURCHASE DETAILS</vt:lpstr>
      <vt:lpstr>FESTIVE SALES &amp; CATEGORY ANALYSIS</vt:lpstr>
      <vt:lpstr>CUSTOMER PURCHASE BEHAVIOUR</vt:lpstr>
      <vt:lpstr>DELIVERY &amp; PAYMENT ANALYSIS</vt:lpstr>
      <vt:lpstr>RECOMMENDATIONS</vt:lpstr>
      <vt:lpstr>LIMITATIONS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M</dc:creator>
  <cp:lastModifiedBy>NEHA M</cp:lastModifiedBy>
  <cp:revision>1</cp:revision>
  <dcterms:created xsi:type="dcterms:W3CDTF">2026-10-11T10:49:02Z</dcterms:created>
  <dcterms:modified xsi:type="dcterms:W3CDTF">2026-10-11T13:18:24Z</dcterms:modified>
</cp:coreProperties>
</file>